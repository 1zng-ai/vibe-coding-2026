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24384000" cy="13716000"/>
  <p:notesSz cx="6858000" cy="9144000"/>
  <p:embeddedFontLst>
    <p:embeddedFont>
      <p:font typeface="SB AggroOTF Medium"/>
      <p:regular r:id="rId14"/>
    </p:embeddedFont>
    <p:embeddedFont>
      <p:font typeface="Pretendard Regular"/>
      <p:regular r:id="rId15"/>
    </p:embeddedFont>
    <p:embeddedFont>
      <p:font typeface="Pretendard Bold"/>
      <p:bold r:id="rId16"/>
    </p:embeddedFont>
    <p:embeddedFont>
      <p:font typeface="Pretendard ExtraBold"/>
      <p:bold r:id="rId17"/>
    </p:embeddedFont>
    <p:embeddedFont>
      <p:font typeface="Pretendard SemiBold"/>
      <p:bold r:id="rId18"/>
    </p:embeddedFont>
    <p:embeddedFont>
      <p:font typeface="Pretendard Light"/>
      <p:regular r:id="rId19"/>
    </p:embeddedFont>
    <p:embeddedFont>
      <p:font typeface="Pretendard Medium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.fntdata" Type="http://schemas.openxmlformats.org/officeDocument/2006/relationships/font"/><Relationship Id="rId15" Target="fonts/font2.fntdata" Type="http://schemas.openxmlformats.org/officeDocument/2006/relationships/font"/><Relationship Id="rId16" Target="fonts/font3.fntdata" Type="http://schemas.openxmlformats.org/officeDocument/2006/relationships/font"/><Relationship Id="rId17" Target="fonts/font4.fntdata" Type="http://schemas.openxmlformats.org/officeDocument/2006/relationships/font"/><Relationship Id="rId18" Target="fonts/font5.fntdata" Type="http://schemas.openxmlformats.org/officeDocument/2006/relationships/font"/><Relationship Id="rId19" Target="fonts/font6.fntdata" Type="http://schemas.openxmlformats.org/officeDocument/2006/relationships/font"/><Relationship Id="rId2" Target="presProps.xml" Type="http://schemas.openxmlformats.org/officeDocument/2006/relationships/presProps"/><Relationship Id="rId20" Target="fonts/font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6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6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6.pn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2F2F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8369300" y="-1028700"/>
            <a:ext cx="15214600" cy="15214600"/>
          </a:xfrm>
          <a:prstGeom prst="rect">
            <a:avLst/>
          </a:prstGeom>
        </p:spPr>
      </p:pic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19200" y="5892800"/>
          <a:ext cx="15773400" cy="6210300"/>
        </p:xfrm>
        <a:graphic>
          <a:graphicData uri="http://schemas.openxmlformats.org/drawingml/2006/table">
            <a:tbl>
              <a:tblPr/>
              <a:tblGrid>
                <a:gridCol w="15774538"/>
              </a:tblGrid>
              <a:tr h="6215361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133" b="false" i="false" u="none" strike="noStrike">
                          <a:solidFill>
                            <a:srgbClr val="787878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/>
                      </a:r>
                      <a:endParaRPr lang="en-US" sz="1100"/>
                    </a:p>
                  </a:txBody>
                  <a:tcPr anchor="ctr" marL="25400" marT="65362" marR="25400" marB="65362">
                    <a:lnL w="3385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385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385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20243800" y="11582400"/>
            <a:ext cx="29083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333333"/>
                </a:solidFill>
                <a:latin typeface="Pretendard Regular"/>
                <a:ea typeface="Pretendard Regular"/>
                <a:cs typeface="Pretendard Regular"/>
              </a:rPr>
              <a:t>2485039 김소영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16700" y="11036300"/>
            <a:ext cx="38354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2933" b="false" i="false" u="none" strike="noStrike">
                <a:solidFill>
                  <a:srgbClr val="333333"/>
                </a:solidFill>
                <a:latin typeface="Pretendard Regular"/>
                <a:ea typeface="Pretendard Regular"/>
                <a:cs typeface="Pretendard Regular"/>
              </a:rPr>
              <a:t>경영대학 경영학부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8400" y="6959600"/>
            <a:ext cx="15875000" cy="4076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1466" b="false" i="false" u="none" strike="noStrike">
                <a:solidFill>
                  <a:srgbClr val="333333"/>
                </a:solidFill>
                <a:latin typeface="SB AggroOTF Medium"/>
                <a:ea typeface="SB AggroOTF Medium"/>
                <a:cs typeface="SB AggroOTF Medium"/>
              </a:rPr>
              <a:t>llamafile 앱 사용법과Ollama와의 비교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2F2F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708900" y="-533400"/>
            <a:ext cx="16687800" cy="14782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128500" y="2159000"/>
            <a:ext cx="1435100" cy="1155700"/>
          </a:xfrm>
          <a:prstGeom prst="rect">
            <a:avLst/>
          </a:prstGeom>
          <a:effectLst>
            <a:outerShdw dir="2700000" dist="0" blurRad="75212">
              <a:srgbClr val="333333">
                <a:alpha val="15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128500" y="3975100"/>
            <a:ext cx="1435100" cy="1155700"/>
          </a:xfrm>
          <a:prstGeom prst="rect">
            <a:avLst/>
          </a:prstGeom>
          <a:effectLst>
            <a:outerShdw dir="2700000" dist="0" blurRad="75212">
              <a:srgbClr val="333333">
                <a:alpha val="15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128500" y="5778500"/>
            <a:ext cx="1435100" cy="1155700"/>
          </a:xfrm>
          <a:prstGeom prst="rect">
            <a:avLst/>
          </a:prstGeom>
          <a:effectLst>
            <a:outerShdw dir="2700000" dist="0" blurRad="75212">
              <a:srgbClr val="333333">
                <a:alpha val="15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128500" y="7581900"/>
            <a:ext cx="1435100" cy="1155700"/>
          </a:xfrm>
          <a:prstGeom prst="rect">
            <a:avLst/>
          </a:prstGeom>
          <a:effectLst>
            <a:outerShdw dir="2700000" dist="0" blurRad="75212">
              <a:srgbClr val="333333">
                <a:alpha val="15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128500" y="9385300"/>
            <a:ext cx="1435100" cy="1155700"/>
          </a:xfrm>
          <a:prstGeom prst="rect">
            <a:avLst/>
          </a:prstGeom>
          <a:effectLst>
            <a:outerShdw dir="2700000" dist="0" blurRad="75212">
              <a:srgbClr val="333333">
                <a:alpha val="15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128500" y="11188700"/>
            <a:ext cx="1435100" cy="1155700"/>
          </a:xfrm>
          <a:prstGeom prst="rect">
            <a:avLst/>
          </a:prstGeom>
          <a:effectLst>
            <a:outerShdw dir="2700000" dist="0" blurRad="75212">
              <a:srgbClr val="333333">
                <a:alpha val="15000"/>
              </a:srgbClr>
            </a:outerShdw>
          </a:effectLst>
        </p:spPr>
      </p:pic>
      <p:sp>
        <p:nvSpPr>
          <p:cNvPr name="TextBox 9" id="9"/>
          <p:cNvSpPr txBox="true"/>
          <p:nvPr/>
        </p:nvSpPr>
        <p:spPr>
          <a:xfrm rot="0">
            <a:off x="12128500" y="2222500"/>
            <a:ext cx="14478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5866" b="false" i="false" u="none" strike="noStrike">
                <a:solidFill>
                  <a:srgbClr val="3A4CA8"/>
                </a:solidFill>
                <a:latin typeface="Pretendard ExtraBold"/>
                <a:ea typeface="Pretendard ExtraBold"/>
                <a:cs typeface="Pretendard Extra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28500" y="4025900"/>
            <a:ext cx="14478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5866" b="false" i="false" u="none" strike="noStrike">
                <a:solidFill>
                  <a:srgbClr val="3A4CA8"/>
                </a:solidFill>
                <a:latin typeface="Pretendard ExtraBold"/>
                <a:ea typeface="Pretendard ExtraBold"/>
                <a:cs typeface="Pretendard Extra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28500" y="5829300"/>
            <a:ext cx="14478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5866" b="false" i="false" u="none" strike="noStrike">
                <a:solidFill>
                  <a:srgbClr val="3A4CA8"/>
                </a:solidFill>
                <a:latin typeface="Pretendard ExtraBold"/>
                <a:ea typeface="Pretendard ExtraBold"/>
                <a:cs typeface="Pretendard Extra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28500" y="7632700"/>
            <a:ext cx="14478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5866" b="false" i="false" u="none" strike="noStrike">
                <a:solidFill>
                  <a:srgbClr val="3A4CA8"/>
                </a:solidFill>
                <a:latin typeface="Pretendard ExtraBold"/>
                <a:ea typeface="Pretendard ExtraBold"/>
                <a:cs typeface="Pretendard ExtraBold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28500" y="9436100"/>
            <a:ext cx="14478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5866" b="false" i="false" u="none" strike="noStrike">
                <a:solidFill>
                  <a:srgbClr val="3A4CA8"/>
                </a:solidFill>
                <a:latin typeface="Pretendard ExtraBold"/>
                <a:ea typeface="Pretendard ExtraBold"/>
                <a:cs typeface="Pretendard Extra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28500" y="11252200"/>
            <a:ext cx="14478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5866" b="false" i="false" u="none" strike="noStrike">
                <a:solidFill>
                  <a:srgbClr val="3A4CA8"/>
                </a:solidFill>
                <a:latin typeface="Pretendard ExtraBold"/>
                <a:ea typeface="Pretendard ExtraBold"/>
                <a:cs typeface="Pretendard ExtraBold"/>
              </a:rPr>
              <a:t>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93800" y="2438400"/>
            <a:ext cx="32385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466" b="false" i="false" u="none" strike="noStrike">
                <a:solidFill>
                  <a:srgbClr val="3A4CA8"/>
                </a:solidFill>
                <a:latin typeface="Pretendard Bold"/>
                <a:ea typeface="Pretendard Bold"/>
                <a:cs typeface="Pretendard Bold"/>
              </a:rPr>
              <a:t>llamafile 이란?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93800" y="4241800"/>
            <a:ext cx="42291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466" b="false" i="false" u="none" strike="noStrike">
                <a:solidFill>
                  <a:srgbClr val="3A4CA8"/>
                </a:solidFill>
                <a:latin typeface="Pretendard Bold"/>
                <a:ea typeface="Pretendard Bold"/>
                <a:cs typeface="Pretendard Bold"/>
              </a:rPr>
              <a:t>llamafile 사용법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81100" y="6045200"/>
            <a:ext cx="45847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466" b="false" i="false" u="none" strike="noStrike">
                <a:solidFill>
                  <a:srgbClr val="3A4CA8"/>
                </a:solidFill>
                <a:latin typeface="Pretendard Bold"/>
                <a:ea typeface="Pretendard Bold"/>
                <a:cs typeface="Pretendard Bold"/>
              </a:rPr>
              <a:t>Ollama와 형태 비교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93800" y="7848600"/>
            <a:ext cx="51435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466" b="false" i="false" u="none" strike="noStrike">
                <a:solidFill>
                  <a:srgbClr val="3A4CA8"/>
                </a:solidFill>
                <a:latin typeface="Pretendard Bold"/>
                <a:ea typeface="Pretendard Bold"/>
                <a:cs typeface="Pretendard Bold"/>
              </a:rPr>
              <a:t>Ollama와 실행 방식 비교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93800" y="9652000"/>
            <a:ext cx="56642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466" b="false" i="false" u="none" strike="noStrike">
                <a:solidFill>
                  <a:srgbClr val="3A4CA8"/>
                </a:solidFill>
                <a:latin typeface="Pretendard Bold"/>
                <a:ea typeface="Pretendard Bold"/>
                <a:cs typeface="Pretendard Bold"/>
              </a:rPr>
              <a:t>Ollama와 주요 목적 비교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81100" y="11455400"/>
            <a:ext cx="45847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466" b="false" i="false" u="none" strike="noStrike">
                <a:solidFill>
                  <a:srgbClr val="3A4CA8"/>
                </a:solidFill>
                <a:latin typeface="Pretendard Bold"/>
                <a:ea typeface="Pretendard Bold"/>
                <a:cs typeface="Pretendard Bold"/>
              </a:rPr>
              <a:t>Ollama와 장/단점 비교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9200" y="2146300"/>
            <a:ext cx="2311400" cy="1473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8266" b="false" i="false" u="none" strike="noStrike">
                <a:solidFill>
                  <a:srgbClr val="F2F2F2"/>
                </a:solidFill>
                <a:latin typeface="Pretendard ExtraBold"/>
                <a:ea typeface="Pretendard ExtraBold"/>
                <a:cs typeface="Pretendard ExtraBold"/>
              </a:rPr>
              <a:t>목차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9200" y="3606800"/>
            <a:ext cx="38227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4000" b="false" i="false" u="none" strike="noStrike">
                <a:solidFill>
                  <a:srgbClr val="F2F2F2"/>
                </a:solidFill>
                <a:latin typeface="Pretendard SemiBold"/>
                <a:ea typeface="Pretendard SemiBold"/>
                <a:cs typeface="Pretendard SemiBol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2F2F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977900" y="1917700"/>
            <a:ext cx="22415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36600" y="1219200"/>
            <a:ext cx="647700" cy="11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3632200"/>
            <a:ext cx="7886700" cy="767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176000" y="4178300"/>
            <a:ext cx="10769600" cy="2235200"/>
          </a:xfrm>
          <a:prstGeom prst="rect">
            <a:avLst/>
          </a:prstGeom>
          <a:effectLst>
            <a:outerShdw dir="2700000" dist="0" blurRad="145189">
              <a:srgbClr val="333333">
                <a:alpha val="15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2966700" y="5270500"/>
            <a:ext cx="14986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26600" y="7505700"/>
            <a:ext cx="1549400" cy="38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176000" y="6375400"/>
            <a:ext cx="10769600" cy="2235200"/>
          </a:xfrm>
          <a:prstGeom prst="rect">
            <a:avLst/>
          </a:prstGeom>
          <a:effectLst>
            <a:outerShdw dir="2700000" dist="0" blurRad="145189">
              <a:srgbClr val="333333">
                <a:alpha val="15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2966700" y="7480300"/>
            <a:ext cx="14986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176000" y="8585200"/>
            <a:ext cx="10769600" cy="2235200"/>
          </a:xfrm>
          <a:prstGeom prst="rect">
            <a:avLst/>
          </a:prstGeom>
          <a:effectLst>
            <a:outerShdw dir="2700000" dist="0" blurRad="145189">
              <a:srgbClr val="333333">
                <a:alpha val="15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2966700" y="9690100"/>
            <a:ext cx="1498600" cy="254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4185900" y="5041900"/>
            <a:ext cx="7327900" cy="469900"/>
          </a:xfrm>
          <a:prstGeom prst="rect">
            <a:avLst/>
          </a:prstGeom>
        </p:spPr>
        <p:txBody>
          <a:bodyPr anchor="ctr" rtlCol="false" lIns="0" tIns="16934" rIns="0" bIns="16934"/>
          <a:lstStyle/>
          <a:p>
            <a:pPr algn="l" lvl="0">
              <a:lnSpc>
                <a:spcPct val="107899"/>
              </a:lnSpc>
            </a:pP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>Mozilla (Firefox 개발사)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85900" y="7251700"/>
            <a:ext cx="7327900" cy="469900"/>
          </a:xfrm>
          <a:prstGeom prst="rect">
            <a:avLst/>
          </a:prstGeom>
        </p:spPr>
        <p:txBody>
          <a:bodyPr anchor="ctr" rtlCol="false" lIns="0" tIns="16934" rIns="0" bIns="16934"/>
          <a:lstStyle/>
          <a:p>
            <a:pPr algn="l" lvl="0">
              <a:lnSpc>
                <a:spcPct val="107899"/>
              </a:lnSpc>
            </a:pP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>Apache 2.0 (오픈소스)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85900" y="9448800"/>
            <a:ext cx="7327900" cy="469900"/>
          </a:xfrm>
          <a:prstGeom prst="rect">
            <a:avLst/>
          </a:prstGeom>
        </p:spPr>
        <p:txBody>
          <a:bodyPr anchor="ctr" rtlCol="false" lIns="0" tIns="16934" rIns="0" bIns="16934"/>
          <a:lstStyle/>
          <a:p>
            <a:pPr algn="l" lvl="0">
              <a:lnSpc>
                <a:spcPct val="107899"/>
              </a:lnSpc>
            </a:pP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>llama.cpp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18900" y="4991100"/>
            <a:ext cx="1841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200" b="false" i="false" u="none" strike="noStrike">
                <a:solidFill>
                  <a:srgbClr val="3A4CA8"/>
                </a:solidFill>
                <a:latin typeface="Pretendard SemiBold"/>
                <a:ea typeface="Pretendard SemiBold"/>
                <a:cs typeface="Pretendard SemiBold"/>
              </a:rPr>
              <a:t>개발사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18900" y="7200900"/>
            <a:ext cx="1841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200" b="false" i="false" u="none" strike="noStrike">
                <a:solidFill>
                  <a:srgbClr val="3A4CA8"/>
                </a:solidFill>
                <a:latin typeface="Pretendard SemiBold"/>
                <a:ea typeface="Pretendard SemiBold"/>
                <a:cs typeface="Pretendard SemiBold"/>
              </a:rPr>
              <a:t>라이선스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18900" y="9410700"/>
            <a:ext cx="1841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200" b="false" i="false" u="none" strike="noStrike">
                <a:solidFill>
                  <a:srgbClr val="3A4CA8"/>
                </a:solidFill>
                <a:latin typeface="Pretendard SemiBold"/>
                <a:ea typeface="Pretendard SemiBold"/>
                <a:cs typeface="Pretendard SemiBold"/>
              </a:rPr>
              <a:t>기반 엔진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70300" y="6794500"/>
            <a:ext cx="5003800" cy="21590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107899"/>
              </a:lnSpc>
            </a:pPr>
            <a:r>
              <a:rPr lang="en-US" sz="3200" b="false" i="false" u="none" strike="noStrike">
                <a:solidFill>
                  <a:srgbClr val="F2F2F2"/>
                </a:solidFill>
                <a:latin typeface="Pretendard Light"/>
                <a:ea typeface="Pretendard Light"/>
                <a:cs typeface="Pretendard Light"/>
              </a:rPr>
              <a:t>LLM을 단일 실행 파일 하나로 패키징해
어디서든 바로 실행할 수 있게 해주는 오픈소스 도구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00600" y="6032500"/>
            <a:ext cx="27178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733" b="true" i="false" u="none" strike="noStrike">
                <a:solidFill>
                  <a:srgbClr val="F2F2F2"/>
                </a:solidFill>
                <a:latin typeface="Pretendard SemiBold"/>
                <a:ea typeface="Pretendard SemiBold"/>
                <a:cs typeface="Pretendard SemiBold"/>
              </a:rPr>
              <a:t>llamafile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4300" y="698500"/>
            <a:ext cx="57531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5866" b="false" i="false" u="none" strike="noStrike">
                <a:solidFill>
                  <a:srgbClr val="333333"/>
                </a:solidFill>
                <a:latin typeface="Pretendard ExtraBold"/>
                <a:ea typeface="Pretendard ExtraBold"/>
                <a:cs typeface="Pretendard ExtraBold"/>
              </a:rPr>
              <a:t>llamafile 이란?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199600" y="12573000"/>
            <a:ext cx="952500" cy="469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2666" b="false" i="false" u="none" strike="noStrike">
                <a:solidFill>
                  <a:srgbClr val="C2C2C2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2F2F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977900" y="1917700"/>
            <a:ext cx="22415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36600" y="1219200"/>
            <a:ext cx="647700" cy="11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71700" y="3733800"/>
            <a:ext cx="5029200" cy="7607300"/>
          </a:xfrm>
          <a:prstGeom prst="rect">
            <a:avLst/>
          </a:prstGeom>
          <a:effectLst>
            <a:outerShdw dir="2700000" dist="0" blurRad="326776">
              <a:srgbClr val="333333">
                <a:alpha val="15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71700" y="3721100"/>
            <a:ext cx="5029200" cy="1371600"/>
          </a:xfrm>
          <a:prstGeom prst="rect">
            <a:avLst/>
          </a:prstGeom>
          <a:effectLst>
            <a:outerShdw dir="2700000" dist="0" blurRad="89399">
              <a:srgbClr val="333333">
                <a:alpha val="15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089400" y="3327400"/>
            <a:ext cx="1168400" cy="800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75500" y="3733800"/>
            <a:ext cx="5029200" cy="7607300"/>
          </a:xfrm>
          <a:prstGeom prst="rect">
            <a:avLst/>
          </a:prstGeom>
          <a:effectLst>
            <a:outerShdw dir="2700000" dist="0" blurRad="326776">
              <a:srgbClr val="333333">
                <a:alpha val="15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175500" y="3721100"/>
            <a:ext cx="5029200" cy="1371600"/>
          </a:xfrm>
          <a:prstGeom prst="rect">
            <a:avLst/>
          </a:prstGeom>
          <a:effectLst>
            <a:outerShdw dir="2700000" dist="0" blurRad="89399">
              <a:srgbClr val="333333">
                <a:alpha val="15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105900" y="3327400"/>
            <a:ext cx="1168400" cy="800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79300" y="3733800"/>
            <a:ext cx="5029200" cy="7607300"/>
          </a:xfrm>
          <a:prstGeom prst="rect">
            <a:avLst/>
          </a:prstGeom>
          <a:effectLst>
            <a:outerShdw dir="2700000" dist="0" blurRad="326776">
              <a:srgbClr val="333333">
                <a:alpha val="15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179300" y="3721100"/>
            <a:ext cx="5029200" cy="1371600"/>
          </a:xfrm>
          <a:prstGeom prst="rect">
            <a:avLst/>
          </a:prstGeom>
          <a:effectLst>
            <a:outerShdw dir="2700000" dist="0" blurRad="89399">
              <a:srgbClr val="333333">
                <a:alpha val="15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109700" y="3327400"/>
            <a:ext cx="1168400" cy="800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183100" y="3733800"/>
            <a:ext cx="5029200" cy="7607300"/>
          </a:xfrm>
          <a:prstGeom prst="rect">
            <a:avLst/>
          </a:prstGeom>
          <a:effectLst>
            <a:outerShdw dir="2700000" dist="0" blurRad="326776">
              <a:srgbClr val="333333">
                <a:alpha val="15000"/>
              </a:srgbClr>
            </a:outerShdw>
          </a:effectLst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183100" y="3721100"/>
            <a:ext cx="5029200" cy="1371600"/>
          </a:xfrm>
          <a:prstGeom prst="rect">
            <a:avLst/>
          </a:prstGeom>
          <a:effectLst>
            <a:outerShdw dir="2700000" dist="0" blurRad="89399">
              <a:srgbClr val="333333">
                <a:alpha val="15000"/>
              </a:srgbClr>
            </a:outerShdw>
          </a:effectLst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113500" y="3327400"/>
            <a:ext cx="1168400" cy="8001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2527300" y="6642100"/>
            <a:ext cx="4406900" cy="3035300"/>
          </a:xfrm>
          <a:prstGeom prst="rect">
            <a:avLst/>
          </a:prstGeom>
        </p:spPr>
        <p:txBody>
          <a:bodyPr anchor="ctr" rtlCol="false" lIns="0" tIns="23707" rIns="0" bIns="23707"/>
          <a:lstStyle/>
          <a:p>
            <a:pPr algn="l" lvl="1" marL="342900" indent="-342900">
              <a:lnSpc>
                <a:spcPct val="1045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>window : 브라우저에서 직접 다운로드</a:t>
            </a:r>
          </a:p>
          <a:p>
            <a:pPr algn="l" lvl="0">
              <a:lnSpc>
                <a:spcPct val="104580"/>
              </a:lnSpc>
            </a:pP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l" lvl="1" marL="342900" indent="-342900">
              <a:lnSpc>
                <a:spcPct val="1045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>mac : curl -LO [HuggingFace URL]</a:t>
            </a:r>
            <a:b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>Qwen3.5-0.8B-Q8_0.llamafile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67600" y="6896100"/>
            <a:ext cx="4546600" cy="2603500"/>
          </a:xfrm>
          <a:prstGeom prst="rect">
            <a:avLst/>
          </a:prstGeom>
        </p:spPr>
        <p:txBody>
          <a:bodyPr anchor="ctr" rtlCol="false" lIns="0" tIns="23707" rIns="0" bIns="23707"/>
          <a:lstStyle/>
          <a:p>
            <a:pPr algn="l" lvl="1" marL="342900" indent="-342900">
              <a:lnSpc>
                <a:spcPct val="1045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>window : 파일명에 .exe 추가</a:t>
            </a:r>
            <a:b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>Qwen3.5-0.8B-Q8_0.llamafile.exe</a:t>
            </a:r>
          </a:p>
          <a:p>
            <a:pPr algn="l" lvl="1" marL="342900" indent="-342900">
              <a:lnSpc>
                <a:spcPct val="1045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l" lvl="1" marL="342900" indent="-342900">
              <a:lnSpc>
                <a:spcPct val="1045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>mac : chmod +x Qwen3.5-0.8B-Q8_0.llamafile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09500" y="6883400"/>
            <a:ext cx="4470400" cy="2603500"/>
          </a:xfrm>
          <a:prstGeom prst="rect">
            <a:avLst/>
          </a:prstGeom>
        </p:spPr>
        <p:txBody>
          <a:bodyPr anchor="ctr" rtlCol="false" lIns="0" tIns="23707" rIns="0" bIns="23707"/>
          <a:lstStyle/>
          <a:p>
            <a:pPr algn="l" lvl="1" marL="342900" indent="-342900">
              <a:lnSpc>
                <a:spcPct val="1045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>window : 파일 더블클릭 또는</a:t>
            </a:r>
            <a:b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>Qwen3.5-0.8B-Q8_0.llamafile.exe</a:t>
            </a:r>
          </a:p>
          <a:p>
            <a:pPr algn="l" lvl="1" marL="342900" indent="-342900">
              <a:lnSpc>
                <a:spcPct val="1045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l" lvl="1" marL="342900" indent="-342900">
              <a:lnSpc>
                <a:spcPct val="1045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>mac :./Qwen3.5-0.8B-Q8_0.llamafile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551400" y="6896100"/>
            <a:ext cx="4406900" cy="2603500"/>
          </a:xfrm>
          <a:prstGeom prst="rect">
            <a:avLst/>
          </a:prstGeom>
        </p:spPr>
        <p:txBody>
          <a:bodyPr anchor="ctr" rtlCol="false" lIns="0" tIns="23707" rIns="0" bIns="23707"/>
          <a:lstStyle/>
          <a:p>
            <a:pPr algn="l" lvl="1" marL="342900" indent="-342900">
              <a:lnSpc>
                <a:spcPct val="1045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>window : http://localhost:8080</a:t>
            </a:r>
          </a:p>
          <a:p>
            <a:pPr algn="l" lvl="1" marL="342900" indent="-342900">
              <a:lnSpc>
                <a:spcPct val="1045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  <a:p>
            <a:pPr algn="l" lvl="1" marL="342900" indent="-342900">
              <a:lnSpc>
                <a:spcPct val="10458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>mac : http://localhost:8080</a:t>
            </a:r>
            <a:b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</a:br>
            <a:r>
              <a:rPr lang="en-US" sz="2666" b="false" i="false" u="none" strike="noStrike">
                <a:solidFill>
                  <a:srgbClr val="333333"/>
                </a:solidFill>
                <a:latin typeface="Pretendard Light"/>
                <a:ea typeface="Pretendard Light"/>
                <a:cs typeface="Pretendard Light"/>
              </a:rPr>
              <a:t>(브라우저 자동 오픈)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46400" y="4254500"/>
            <a:ext cx="34671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200" b="false" i="false" u="none" strike="noStrike">
                <a:solidFill>
                  <a:srgbClr val="3A4CA8"/>
                </a:solidFill>
                <a:latin typeface="Pretendard Bold"/>
                <a:ea typeface="Pretendard Bold"/>
                <a:cs typeface="Pretendard Bold"/>
              </a:rPr>
              <a:t>파일 다운로드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962900" y="4254500"/>
            <a:ext cx="34671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200" b="false" i="false" u="none" strike="noStrike">
                <a:solidFill>
                  <a:srgbClr val="3A4CA8"/>
                </a:solidFill>
                <a:latin typeface="Pretendard Bold"/>
                <a:ea typeface="Pretendard Bold"/>
                <a:cs typeface="Pretendard Bold"/>
              </a:rPr>
              <a:t>실행 준비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66700" y="4254500"/>
            <a:ext cx="34671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200" b="false" i="false" u="none" strike="noStrike">
                <a:solidFill>
                  <a:srgbClr val="3A4CA8"/>
                </a:solidFill>
                <a:latin typeface="Pretendard Bold"/>
                <a:ea typeface="Pretendard Bold"/>
                <a:cs typeface="Pretendard Bold"/>
              </a:rPr>
              <a:t>실행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386300" y="4254500"/>
            <a:ext cx="46355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200" b="false" i="false" u="none" strike="noStrike">
                <a:solidFill>
                  <a:srgbClr val="3A4CA8"/>
                </a:solidFill>
                <a:latin typeface="Pretendard Bold"/>
                <a:ea typeface="Pretendard Bold"/>
                <a:cs typeface="Pretendard Bold"/>
              </a:rPr>
              <a:t>Web UI 접속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03700" y="3390900"/>
            <a:ext cx="9525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F2F2F2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20200" y="3390900"/>
            <a:ext cx="9525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F2F2F2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24000" y="3390900"/>
            <a:ext cx="9525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F2F2F2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227800" y="3390900"/>
            <a:ext cx="9525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F2F2F2"/>
                </a:solidFill>
                <a:latin typeface="Pretendard Bold"/>
                <a:ea typeface="Pretendard Bold"/>
                <a:cs typeface="Pretendard Bold"/>
              </a:rPr>
              <a:t>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4300" y="698500"/>
            <a:ext cx="72771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5866" b="false" i="false" u="none" strike="noStrike">
                <a:solidFill>
                  <a:srgbClr val="333333"/>
                </a:solidFill>
                <a:latin typeface="Pretendard ExtraBold"/>
                <a:ea typeface="Pretendard ExtraBold"/>
                <a:cs typeface="Pretendard ExtraBold"/>
              </a:rPr>
              <a:t>llamafile 사용법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2F2F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664700" y="2781300"/>
            <a:ext cx="5054600" cy="800100"/>
          </a:xfrm>
          <a:prstGeom prst="rect">
            <a:avLst/>
          </a:prstGeom>
        </p:spPr>
      </p:pic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505200" y="4102100"/>
          <a:ext cx="17360900" cy="7569200"/>
        </p:xfrm>
        <a:graphic>
          <a:graphicData uri="http://schemas.openxmlformats.org/drawingml/2006/table">
            <a:tbl>
              <a:tblPr/>
              <a:tblGrid>
                <a:gridCol w="8611714"/>
                <a:gridCol w="8750009"/>
              </a:tblGrid>
              <a:tr h="102790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-US" sz="3199" b="false" i="false" u="none" strike="noStrike">
                          <a:solidFill>
                            <a:srgbClr val="3A4CA8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llamafile</a:t>
                      </a:r>
                      <a:endParaRPr lang="en-US" sz="1100"/>
                    </a:p>
                  </a:txBody>
                  <a:tcPr anchor="ctr" marL="25400" marT="45719" marR="25400" marB="45719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-US" sz="3199" b="false" i="false" u="none" strike="noStrike">
                          <a:solidFill>
                            <a:srgbClr val="3A4CA8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Ollama</a:t>
                      </a:r>
                      <a:endParaRPr lang="en-US" sz="1100"/>
                    </a:p>
                  </a:txBody>
                  <a:tcPr anchor="ctr" marL="25400" marT="45719" marR="25400" marB="45719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</a:tr>
              <a:tr h="1635323">
                <a:tc row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53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단일 실행 파일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(.llamafile)</a:t>
                      </a: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/>
                      </a:r>
                    </a:p>
                  </a:txBody>
                  <a:tcPr anchor="ctr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53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백그라운드 데몬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(+ CLI 앱)</a:t>
                      </a:r>
                    </a:p>
                  </a:txBody>
                  <a:tcPr anchor="ctr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5323"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532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모델 가중치 + 추론 엔진이
하나의 파일에 합쳐져 있음</a:t>
                      </a:r>
                      <a:endParaRPr lang="en-US" sz="1100"/>
                    </a:p>
                  </a:txBody>
                  <a:tcPr anchor="ctr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ollama 서비스가 상시 실행되어야
동작하는 데몬 구조</a:t>
                      </a:r>
                      <a:endParaRPr lang="en-US" sz="1100"/>
                    </a:p>
                  </a:txBody>
                  <a:tcPr anchor="ctr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532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설치 불필요 · 즉시 실행 · 완전 오프라인</a:t>
                      </a:r>
                      <a:endParaRPr lang="en-US" sz="1100"/>
                    </a:p>
                  </a:txBody>
                  <a:tcPr anchor="ctr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모델 전환 쉬움 · 풍부한 생태계 · API 연동</a:t>
                      </a:r>
                      <a:endParaRPr lang="en-US" sz="1100"/>
                    </a:p>
                  </a:txBody>
                  <a:tcPr anchor="ctr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77900" y="1917700"/>
            <a:ext cx="224155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210800" y="2857500"/>
            <a:ext cx="3975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F2F2F2"/>
                </a:solidFill>
                <a:latin typeface="Pretendard Bold"/>
                <a:ea typeface="Pretendard Bold"/>
                <a:cs typeface="Pretendard Bold"/>
              </a:rPr>
              <a:t>형태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5300" y="736600"/>
            <a:ext cx="61214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5866" b="false" i="false" u="none" strike="noStrike">
                <a:solidFill>
                  <a:srgbClr val="333333"/>
                </a:solidFill>
                <a:latin typeface="Pretendard ExtraBold"/>
                <a:ea typeface="Pretendard ExtraBold"/>
                <a:cs typeface="Pretendard ExtraBold"/>
              </a:rPr>
              <a:t>형태 비교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711200"/>
            <a:ext cx="1320800" cy="1092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6133" b="false" i="false" u="none" strike="noStrike">
                <a:solidFill>
                  <a:srgbClr val="3A4CA8"/>
                </a:solidFill>
                <a:latin typeface="Pretendard Bold"/>
                <a:ea typeface="Pretendard Bold"/>
                <a:cs typeface="Pretendard Bold"/>
              </a:rPr>
              <a:t>|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2F2F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664700" y="2781300"/>
            <a:ext cx="5054600" cy="800100"/>
          </a:xfrm>
          <a:prstGeom prst="rect">
            <a:avLst/>
          </a:prstGeom>
        </p:spPr>
      </p:pic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505200" y="4102100"/>
          <a:ext cx="17360900" cy="7569200"/>
        </p:xfrm>
        <a:graphic>
          <a:graphicData uri="http://schemas.openxmlformats.org/drawingml/2006/table">
            <a:tbl>
              <a:tblPr/>
              <a:tblGrid>
                <a:gridCol w="8611714"/>
                <a:gridCol w="8750009"/>
              </a:tblGrid>
              <a:tr h="102790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-US" sz="3199" b="false" i="false" u="none" strike="noStrike">
                          <a:solidFill>
                            <a:srgbClr val="3A4CA8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llamafile</a:t>
                      </a:r>
                      <a:endParaRPr lang="en-US" sz="1100"/>
                    </a:p>
                  </a:txBody>
                  <a:tcPr anchor="ctr" marL="25400" marT="45719" marR="25400" marB="45719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-US" sz="3199" b="false" i="false" u="none" strike="noStrike">
                          <a:solidFill>
                            <a:srgbClr val="3A4CA8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Ollama</a:t>
                      </a:r>
                      <a:endParaRPr lang="en-US" sz="1100"/>
                    </a:p>
                  </a:txBody>
                  <a:tcPr anchor="ctr" marL="25400" marT="45719" marR="25400" marB="45719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</a:tr>
              <a:tr h="163532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파일 다운로드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9E9E9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HuggingFace 등에서 .llamafile 다운</a:t>
                      </a:r>
                      <a:br>
                        <a:rPr lang="en-US" sz="2933" b="false" i="false" u="none" strike="noStrike">
                          <a:solidFill>
                            <a:srgbClr val="9E9E9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</a:p>
                  </a:txBody>
                  <a:tcPr anchor="ctr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ollama 설치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9E9E9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brew install ollama  /  설치 스크립트</a:t>
                      </a:r>
                      <a:br>
                        <a:rPr lang="en-US" sz="2933" b="false" i="false" u="none" strike="noStrike">
                          <a:solidFill>
                            <a:srgbClr val="9E9E9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</a:p>
                  </a:txBody>
                  <a:tcPr anchor="ctr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532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실행 권한 부여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9E9E9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chmod +x model.llamafile  (Linux/Mac)</a:t>
                      </a:r>
                    </a:p>
                  </a:txBody>
                  <a:tcPr anchor="ctr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데몬 실행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9E9E9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ollama serve  (백그라운드 자동 시작)</a:t>
                      </a:r>
                      <a:br>
                        <a:rPr lang="en-US" sz="2933" b="false" i="false" u="none" strike="noStrike">
                          <a:solidFill>
                            <a:srgbClr val="9E9E9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</a:p>
                  </a:txBody>
                  <a:tcPr anchor="ctr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532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파일 실행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9E9E9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./model.llamafile</a:t>
                      </a:r>
                      <a:br>
                        <a:rPr lang="en-US" sz="2933" b="false" i="false" u="none" strike="noStrike">
                          <a:solidFill>
                            <a:srgbClr val="9E9E9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</a:p>
                  </a:txBody>
                  <a:tcPr anchor="ctr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모델 다운로드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9E9E9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ollama pull llama3</a:t>
                      </a:r>
                      <a:br>
                        <a:rPr lang="en-US" sz="2933" b="false" i="false" u="none" strike="noStrike">
                          <a:solidFill>
                            <a:srgbClr val="9E9E9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</a:p>
                  </a:txBody>
                  <a:tcPr anchor="ctr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532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웹 UI 오픈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9E9E9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브라우저에서 localhost:8080 자동 열림</a:t>
                      </a:r>
                      <a:br>
                        <a:rPr lang="en-US" sz="2933" b="false" i="false" u="none" strike="noStrike">
                          <a:solidFill>
                            <a:srgbClr val="9E9E9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</a:p>
                  </a:txBody>
                  <a:tcPr anchor="ctr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대화 실행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9E9E9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ollama run llama3</a:t>
                      </a:r>
                      <a:br>
                        <a:rPr lang="en-US" sz="2933" b="false" i="false" u="none" strike="noStrike">
                          <a:solidFill>
                            <a:srgbClr val="9E9E9E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</a:br>
                    </a:p>
                  </a:txBody>
                  <a:tcPr anchor="ctr" marL="25400" marT="25400" marR="25400" marB="25400">
                    <a:lnL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24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977900" y="1917700"/>
            <a:ext cx="224155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210800" y="2857500"/>
            <a:ext cx="3975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F2F2F2"/>
                </a:solidFill>
                <a:latin typeface="Pretendard Bold"/>
                <a:ea typeface="Pretendard Bold"/>
                <a:cs typeface="Pretendard Bold"/>
              </a:rPr>
              <a:t>실행 방식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5300" y="736600"/>
            <a:ext cx="61214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5866" b="false" i="false" u="none" strike="noStrike">
                <a:solidFill>
                  <a:srgbClr val="333333"/>
                </a:solidFill>
                <a:latin typeface="Pretendard ExtraBold"/>
                <a:ea typeface="Pretendard ExtraBold"/>
                <a:cs typeface="Pretendard ExtraBold"/>
              </a:rPr>
              <a:t>실행 방식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711200"/>
            <a:ext cx="1320800" cy="1092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6133" b="false" i="false" u="none" strike="noStrike">
                <a:solidFill>
                  <a:srgbClr val="3A4CA8"/>
                </a:solidFill>
                <a:latin typeface="Pretendard Bold"/>
                <a:ea typeface="Pretendard Bold"/>
                <a:cs typeface="Pretendard Bold"/>
              </a:rPr>
              <a:t>|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2F2F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664700" y="2781300"/>
            <a:ext cx="5054600" cy="80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36600" y="1219200"/>
            <a:ext cx="647700" cy="11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77900" y="1917700"/>
            <a:ext cx="22415500" cy="25400"/>
          </a:xfrm>
          <a:prstGeom prst="rect">
            <a:avLst/>
          </a:prstGeom>
        </p:spPr>
      </p:pic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505200" y="4102100"/>
          <a:ext cx="17360900" cy="7569200"/>
        </p:xfrm>
        <a:graphic>
          <a:graphicData uri="http://schemas.openxmlformats.org/drawingml/2006/table">
            <a:tbl>
              <a:tblPr/>
              <a:tblGrid>
                <a:gridCol w="8611714"/>
                <a:gridCol w="8750009"/>
              </a:tblGrid>
              <a:tr h="102790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-US" sz="3199" b="false" i="false" u="none" strike="noStrike">
                          <a:solidFill>
                            <a:srgbClr val="3A4CA8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llamafile — 이식성 &amp; 오프라인</a:t>
                      </a:r>
                      <a:endParaRPr lang="en-US" sz="1100"/>
                    </a:p>
                  </a:txBody>
                  <a:tcPr anchor="ctr" marL="25400" marT="45719" marR="25400" marB="45719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-US" sz="3199" b="false" i="false" u="none" strike="noStrike">
                          <a:solidFill>
                            <a:srgbClr val="3A4CA8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Ollama — 편의성 &amp; 개발 통합</a:t>
                      </a:r>
                      <a:endParaRPr lang="en-US" sz="1100"/>
                    </a:p>
                  </a:txBody>
                  <a:tcPr anchor="ctr" marL="25400" marT="45719" marR="25400" marB="45719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</a:tr>
              <a:tr h="163532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인터넷 차단 환경에서의 LLM 실행</a:t>
                      </a:r>
                      <a:endParaRPr lang="en-US" sz="1100"/>
                    </a:p>
                  </a:txBody>
                  <a:tcPr anchor="ctr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여러 모델을 편리하게 전환하며 사용</a:t>
                      </a:r>
                      <a:endParaRPr lang="en-US" sz="1100"/>
                    </a:p>
                  </a:txBody>
                  <a:tcPr anchor="ctr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532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설치 없이 즉시 실행 가능한 이식성 확보</a:t>
                      </a:r>
                      <a:endParaRPr lang="en-US" sz="1100"/>
                    </a:p>
                  </a:txBody>
                  <a:tcPr anchor="ctr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로컬 LLM API 서버로 앱 개발에 활용</a:t>
                      </a:r>
                      <a:endParaRPr lang="en-US" sz="1100"/>
                    </a:p>
                  </a:txBody>
                  <a:tcPr anchor="ctr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532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단일 파일로 모델 배포 및 공유</a:t>
                      </a:r>
                      <a:endParaRPr lang="en-US" sz="1100"/>
                    </a:p>
                  </a:txBody>
                  <a:tcPr anchor="ctr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다양한 AI 개발 도구와 연동</a:t>
                      </a:r>
                      <a:endParaRPr lang="en-US" sz="1100"/>
                    </a:p>
                  </a:txBody>
                  <a:tcPr anchor="ctr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532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보안 민감 환경에서의 로컬 AI 활용</a:t>
                      </a:r>
                      <a:endParaRPr lang="en-US" sz="1100"/>
                    </a:p>
                  </a:txBody>
                  <a:tcPr anchor="ctr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팀 내 공유 LLM 서버 운영</a:t>
                      </a:r>
                      <a:endParaRPr lang="en-US" sz="1100"/>
                    </a:p>
                  </a:txBody>
                  <a:tcPr anchor="ctr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10800" y="2857500"/>
            <a:ext cx="3975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F2F2F2"/>
                </a:solidFill>
                <a:latin typeface="Pretendard Bold"/>
                <a:ea typeface="Pretendard Bold"/>
                <a:cs typeface="Pretendard Bold"/>
              </a:rPr>
              <a:t>주요 목적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4300" y="698500"/>
            <a:ext cx="72771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5866" b="false" i="false" u="none" strike="noStrike">
                <a:solidFill>
                  <a:srgbClr val="333333"/>
                </a:solidFill>
                <a:latin typeface="Pretendard ExtraBold"/>
                <a:ea typeface="Pretendard ExtraBold"/>
                <a:cs typeface="Pretendard ExtraBold"/>
              </a:rPr>
              <a:t>주요 목적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2F2F2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664700" y="2781300"/>
            <a:ext cx="5054600" cy="800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36600" y="1219200"/>
            <a:ext cx="647700" cy="11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977900" y="1917700"/>
            <a:ext cx="22415500" cy="25400"/>
          </a:xfrm>
          <a:prstGeom prst="rect">
            <a:avLst/>
          </a:prstGeom>
        </p:spPr>
      </p:pic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505200" y="4102100"/>
          <a:ext cx="17360900" cy="7569200"/>
        </p:xfrm>
        <a:graphic>
          <a:graphicData uri="http://schemas.openxmlformats.org/drawingml/2006/table">
            <a:tbl>
              <a:tblPr/>
              <a:tblGrid>
                <a:gridCol w="6850725"/>
                <a:gridCol w="3550258"/>
                <a:gridCol w="6960741"/>
              </a:tblGrid>
              <a:tr h="1027908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-US" sz="3199" b="false" i="false" u="none" strike="noStrike">
                          <a:solidFill>
                            <a:srgbClr val="3A4CA8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llamafile</a:t>
                      </a:r>
                      <a:endParaRPr lang="en-US" sz="1100"/>
                    </a:p>
                  </a:txBody>
                  <a:tcPr anchor="ctr" marL="25400" marT="45719" marR="25400" marB="45719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-US" sz="3199" b="false" i="false" u="none" strike="noStrike">
                          <a:solidFill>
                            <a:srgbClr val="F2F2F2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/>
                      </a:r>
                      <a:endParaRPr lang="en-US" sz="1100"/>
                    </a:p>
                  </a:txBody>
                  <a:tcPr anchor="ctr" marL="25400" marT="45719" marR="25400" marB="45719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-US" sz="3199" b="false" i="false" u="none" strike="noStrike">
                          <a:solidFill>
                            <a:srgbClr val="3A4CA8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Ollama</a:t>
                      </a:r>
                      <a:endParaRPr lang="en-US" sz="1100"/>
                    </a:p>
                  </a:txBody>
                  <a:tcPr anchor="ctr" marL="25400" marT="45719" marR="25400" marB="45719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</a:tr>
              <a:tr h="1635323">
                <a:tc row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1. 설치 불필요, 즉시 실행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2. 완전한 이식성 (USB 배포 가능)</a:t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3. 완전 오프라인 동작</a:t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4. 설치 권한 없어도 사용 가능</a:t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5. 감사, 보안 추적 용이</a:t>
                      </a:r>
                    </a:p>
                  </a:txBody>
                  <a:tcPr anchor="ctr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-US" sz="3199" b="false" i="false" u="none" strike="noStrike">
                          <a:solidFill>
                            <a:srgbClr val="F2F2F2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장점</a:t>
                      </a:r>
                      <a:endParaRPr lang="en-US" sz="1100"/>
                    </a:p>
                  </a:txBody>
                  <a:tcPr anchor="ctr" marL="25400" marT="45719" marR="25400" marB="45719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1. 모델 전환 매우 간편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2. 풍부한 생태계</a:t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3. 고성능 하드웨어 활용 가능</a:t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4. AI 개발 도구와 공식 연동 지원</a:t>
                      </a:r>
                    </a:p>
                  </a:txBody>
                  <a:tcPr anchor="ctr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5323"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5323">
                <a:tc row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1. 파일의 크기가 매우 큼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2. 모델 전환이 번거로움</a:t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3. 고성능 하드웨어 활용 가능 제한적</a:t>
                      </a:r>
                    </a:p>
                  </a:txBody>
                  <a:tcPr anchor="ctr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-US" sz="3199" b="false" i="false" u="none" strike="noStrike">
                          <a:solidFill>
                            <a:srgbClr val="F2F2F2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단점</a:t>
                      </a:r>
                      <a:endParaRPr lang="en-US" sz="1100"/>
                    </a:p>
                  </a:txBody>
                  <a:tcPr anchor="ctr" marL="25400" marT="45719" marR="25400" marB="45719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 row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1. 이식성 낮음 (USB 불가)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2. 초기 pull 시 인터넷 필요</a:t>
                      </a:r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en-US" sz="2933" b="false" i="false" u="none" strike="noStrike">
                          <a:solidFill>
                            <a:srgbClr val="333333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3. 인터넷 차단 환경에서 불리</a:t>
                      </a:r>
                    </a:p>
                  </a:txBody>
                  <a:tcPr anchor="ctr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5323"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 vMerge="true">
                  <a:txBody>
                    <a:bodyPr anchor="t" rtlCol="false"/>
                    <a:lstStyle/>
                    <a:p>
                      <a:pPr algn="l" lvl="0">
                        <a:lnSpc>
                          <a:spcPct val="83000"/>
                        </a:lnSpc>
                        <a:defRPr/>
                      </a:pPr>
                      <a:r>
                        <a:rPr lang="en-US" sz="1200" b="false" i="false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  <a:endParaRPr lang="en-US" sz="1100"/>
                    </a:p>
                  </a:txBody>
                  <a:tcPr anchor="t" marL="25400" marT="25400" marR="25400" marB="25400">
                    <a:lnL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6929" cmpd="sng" algn="ctr" cap="flat">
                      <a:solidFill>
                        <a:srgbClr val="3A4C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92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10800" y="2857500"/>
            <a:ext cx="3975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733" b="false" i="false" u="none" strike="noStrike">
                <a:solidFill>
                  <a:srgbClr val="F2F2F2"/>
                </a:solidFill>
                <a:latin typeface="Pretendard Bold"/>
                <a:ea typeface="Pretendard Bold"/>
                <a:cs typeface="Pretendard Bold"/>
              </a:rPr>
              <a:t>장점/단점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84300" y="749300"/>
            <a:ext cx="7277100" cy="1041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5866" b="false" i="false" u="none" strike="noStrike">
                <a:solidFill>
                  <a:srgbClr val="333333"/>
                </a:solidFill>
                <a:latin typeface="Pretendard ExtraBold"/>
                <a:ea typeface="Pretendard ExtraBold"/>
                <a:cs typeface="Pretendard ExtraBold"/>
              </a:rPr>
              <a:t>장점/단점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